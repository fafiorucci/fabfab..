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Lezione 6. Capitoli del programma della scuola: Cartografia e segnalamento (fari, IALA), Segnali sonori, Sicurezza (dotazioni, mezzi di soccorso, incendio) ed emergenze (falla, incaglio, collisione, uomo a mare, abbandono, VHF, soccorso, tempo cattivo, 3). Aggiunte dall'All. A: dotazioni obbligatorie secondo il DM 133/2024 (punto 3b), precauzioni all'ingresso e all'uscita dei porti (punto 4a), CIRM (3b), alcol e sostanze (3a).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 verifiche intermedie da 3 quiz e una finale da 6, tutti ufficiali (DD 131/2022). Banca: fanali luminosi e sistema IALA 120 quiz (1.5.3), prevenire gli abbordi 60 (1.5.2, per i segnali sonori), porti 21 (1.4.1), incendio ed estintori 31 (1.3.1), dotazioni di sicurezza 48 (1.3.3, 14 oscurati), sinistri 36 (1.3.6), abbandono e soccorso 13 (1.3.7) più il CIRM (1.3.2.113), tempo cattivo 25 (1.3.8), radio 29 (1.3.9) più 1.3.5, alcol 12 (1.3.2). Attenzione: il DM 133/2024 ha riscritto l'Allegato V del DM 146/2008; dove un quiz non oscurato diverge, all'esame vale la risposta dell'elenco ministeriale.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1.5.3-29, -57, -61 (fari e fanali: la portata nominale li distingue), -1, -30, -39, -86 (portata luminosa), -2, -31, -63, -87 (portata nominale: atmosfera con visibilità meteorologica di 10 miglia), -79 (sulla carta è indicata la nominale), -3, -28, -88 (portata geografica: curvatura, altezza della luce, elevazione dell'occhio).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1.5.3-56 e -77 (caratteristica), -47, -80, -81 (periodo: somma di luci ed eclissi, es. 0,5+1+0,5+2 = 4 s), -41, -48, -35, -34, -37, -45, -68 (lettura delle sigle), -7 e -92 (Sc = scintillante), -9 e -94 (Int = intermittente, a gruppi di eclissi), -38 (Iso: luce uguale all'eclisse), -8, -75, -76, -93 (luce alternata), -85 (settore rosso), -60 (settori colorati), -78 (settore di visibilità in figura), -4 oscurato (fase). Il quiz 1.5.3-37 traduce Oc con «intermittente».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1.5.3-32 (in Italia Sistema A, rosso a sinistra), -27 (segnale laterale), -43 (a sinistra entrando: rosso, cilindrico), -110 e -111 (figure), -44 (forma e colore del corpo o del miraglio), -49 (tipi di segnali IALA), -46 (regioni A e B differiscono solo nei laterali), 1.4.1-8 e -13 (imboccatura del porto: rosso a sinistra, verde a dritta). Navigazione fluviale: quiz 1.5.3-112…-120, da leggere sul manuale.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1.5.3-36, -67 (cosa indicano), -51 (legati alla bussola, nero e giallo), -66 e -70 (miraglio Nord: vertici in alto; Sud: vertici in basso), -69 e -72 (Est: basi unite, passare a est), -71 e -73 (Ovest: vertici uniti, passare a ovest), -82, -83, -84 (9 scintillii: pericolo a est, passare a ovest; 3: passare a est; 6: passare a sud), -33, -52, -54, -55, -97, -103…-109 (figure).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1.5.3-15, -40, -50, -74 (pericolo isolato: nero con bande rosse), -64 (luce bianca a lampi, gruppi di 2), -59, -65, -99 (acque sicure: luce bianca isofase, intermittente o a lampo lungo; sfera rossa), -12, -42, -53, -100, -101, -102 (speciali: gialli, X gialla, luce gialla), -5, -6, -90, -91 (boe luminose), -62 (meda), -58 (gavitelli), -10 e -95 (riflettore radar).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1.5.3-32 → a) il Sistema A (rosso a sx).; 1.5.3-82 → a) pericolo a est: passare a ovest.; 1.5.3-50 → b) nero con una o più bande orizzontali rosse.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1.5.2-21 e -49 (1 breve = accosto a dritta), -23 e -28 (2 brevi = a sinistra), -22, -37, -48, -50 (sorpasso: 2 prolungati + 1 breve a dritta, + 2 brevi a sinistra), 1.4.1-15 e 1.5.3-116 (1 prolungato uscendo dal porto o in una curva cieca). I 3 brevi (macchine indietro) e i 5 brevi (dubbio) sono della regola 34 del COLREG. Apparecchi sonori: 1.5.2-13 e -51 (sotto i 12 m qualsiasi mezzo sonoro efficace), DM 133/2024 (fischio e campana per le unità oltre 12 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1.5.2-20 e -53 (motore con abbrivio: 1 prolungato ogni 2 minuti al massimo), -40 (motore fermo senza abbrivio: 2 prolungati), -52 (vela: 1 prolungato e 2 brevi), -35 (fonda oltre 20 m: campana per 5 secondi ogni minuto), -3 (visibilità ridotta), -10 (velocità di sicurezza), -12 (fanali accesi con visibilità ridotta), -14 (segnale di pericolo: suono continuo). Il quiz 1.5.2-36 sulla campana è oscurato.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1.4.1-4, -9, -17 (precedenza a chi esce; chi transita nei 500 m davanti all'ingresso cede a chi entra ed esce), -6 (navi grandi), -10 (ridurre a 500 m), -12 (non si entra a vela), -19 (nel canale tenersi a dritta), -3 (porti con obbligo di tenere la dritta: ordinanze), -5 (porto commerciale: avvisare l'Autorità marittima), -7, -8, -13, -14 (fanali dell'imboccatura), -15 (1 prolungato uscendo), -16 (danni da moto ondoso), -20 (ormeggi in transito 72 ore), -21 (ormeggi per persone con disabilità), -1 (sanzione da 414 a 2.066 euro), -18 (ordinanze). I quiz -2 e -11 (3 nodi) sono oscurati: il limite lo fissa l'ordinanza del porto.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1.5.2-21 → a) 1 suono breve emesso con un fischio.; 1.4.1-13 → b) 2 fanali: verde sulla dritta e rosso sulla sinistra.; 1.5.2-52 → a) 1 suono prolungato e 2 brevi ad intervalli non superiori a due minuti.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dall'Allegato V al DM 146/2008 come sostituito dal DM 17 settembre 2024 n. 133 (G.U. S.O. n. 35 del 21/09/2024, in vigore dal 21/10/2024). Colonne: senza limiti (qui «oltre 50»), entro 50, 12, 6, 3, 1 miglio, 300 m; esistono anche le acque interne. Entro 300 m nessuna dotazione obbligatoria in tabella. Tavole, derive, kitesurf, moto d'acqua: dispositivo di galleggiamento da 50 N sempre indossato. Fuochi a mano sostituibili con dispositivo a LED SOLAS/MED. Quiz che divergono dalla nuova tabella e che all'esame vanno risposti come nell'elenco: 1.3.3-15 (entro 300 m salvagente e cinture), 1.3.3-12 (cinture oltre 300 m). Oscurati: 1.3.3-4, -6, -9, -11, -14, -23, -25, -26, -32, -33, -35, -36, -41, -42.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Stessa tabella del DM 133/2024. Quiz coerenti: 1.3.3-1 e -40 (VHF oltre 6 miglia, cioè da «entro 12»), -22 e -34 (EPIRB oltre 50), -24 (riflettore radar oltre 12), -43 (binocolo oltre 12), -39 (entro 12 niente EPIRB), -30 (radar non obbligatorio), -5 (bussola e tabelle), 1.3.3-8 (fanali di notte oltre 1 miglio), 1.7.3-7 (GPS oltre 12), 1.7.5-71 (strumenti da carteggio oltre 12). Pronto soccorso: tabella D del decreto 1° ottobre 2015 (1.3.3-45…-47). Estintori: 1.3.1-29 e -30 (manuale del proprietario; per le unità non CE il regolamento), 1.3.3-2 (natante entro 6 miglia: almeno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1.3.3-3 e -20 (boetta fumogena arancione, segnale diurno), -16 (fuochi a mano 6 miglia), -17, -28, -29 (razzi: 25 miglia di notte, 7 di giorno, meno di 1 minuto), -21 (scadenza 4 anni), -22 e -34 (EPIRB oltre 50 miglia), -7 e -18 (quantità, coerenti con il DM 133/2024). Il riflettore radar (1.5.3-10, 1.3.3-24) rende la barca visibile ai radar. VHF e chiamate di soccorso più avanti in questa lezione.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1.3.3-22 → c) oltre 50 miglia dalla costa.; 1.3.3-20 → c) arancione.; 1.3.3-17 → c) 25 miglia.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1.3.1-24 (triangolo: combustibile, comburente, calore), -27 (combustione), -31 (comburente), -25 e -26 (si spegne abbassando la temperatura o togliendo l'ossigeno), -10 (l'aria alimenta l'incendio), -5 (stracci unti), -28 (temperatura di infiammabilità). Il ciclo di aerazione del vano motore a benzina è nella lezione 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1.3.1-16, -9, -17, -14 (classi A solidi, B liquidi, C gas, E elettrico), -1 e -12 (polvere: tutte le classi), -13, -18, -19, -6 (CO2 per liquidi, gas e apparecchi elettrici; VHF in fiamme: CO2), -2 e -15 (schiuma: A e B), -7 (getto alla base), -8 e -20 (acqua pericolosa su metalli e impianti elettrici), -11 (13B: classe e capacità estinguente), -21, -22, -23 (revisione e sostituzione), -4 (omologati CE). Il quiz 1.3.1-3 è oscurato: la CO2 nei locali chiusi toglie l'ossigeno anche alle persone.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Estintori e classi di fuoco nella slide precedente. Quiz 1.3.6-11 (non accelerare verso il porto), -12 e -24 (chiudere carburante e vie d'aria), -13, -18, -22, -25 (fiamme sottovento: fuoco a poppa prua al vento, fuoco a prua poppa al vento), -14 (base della fiamma), -15 (grave: preparare l'abbandono), -16 (quadro elettrico: polvere), -17 (giubbotti e allontanarsi), -19 (in porto: allontanare l'unità), -20 (ventilazione forzata prima di avviare un motore a benzina), -21 e -23 (raffreddamento e soffocamento), -26 e -27 (numero di estintori).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1.3.1-24 → c) combustibile, comburente, calore.; 1.3.1-14 → b) da apparecchiature elettriche in tensione.; 1.3.1-18 → b) un estintore a CO2.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1.3.6-1 (tamponare dall'esterno), -9 (materiali ingombranti per falle grandi), -5 (falla a prua: arrestare il moto), -6 (falla lieve: pompa di sentina), -7 (riserva di spinta), 1.3.5-1 (falla irreparabile: MAYDAY e salvezza delle persone). Si può anche sbandare la barca sul lato opposto per portare la falla fuori dall'acqua (e non sul lato della falla, come dice una risposta sbagliata della 1.3.6-1).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1.3.6-2 (incaglio volontario), -3 (fattori per il disincaglio), -4 (punto nave impreciso), -8 (alta marea), -10 (collisione: fermare, indietro e accostare), 1.3.7-12 (fornire i dati di identificazione, nei limiti del possibile), 1.8.1-4 e -43 (urto senza fornire i dati: sanzione, lezione 7), 1.8.1-1 e seguenti (evento straordinario: denuncia entro 3 giorni).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1.3.6-28 (avvicinamento finale con prudenza, dopo aver smaltito la velocità), -29 e -35 (salvagente anulare verso il naufrago), -31, -33, -36 (accostare dallo stesso lato: eliche lontane), -32 e -34 (controllo visivo), 1.3.8-16 (stacco di sicurezza del fuoribordo). Il quiz 1.3.6-30 richiede la figura della banca (uomo caduto a prua lato dritto: manovra B). A vela: segnalare, lanciare l'anulare, fermare la barca (panna) o accendere il motore controllando che non ci siano cime in acqua.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1.3.7-1 e -13 (giubbotti a tutti, zattera equipaggiata), -2 (sagola fissata prima di lanciare), -3 e -4 (dove non tenere la zattera), -5 e -6 (grab bag), -11 (l'abbandono lo ordina il comandante dopo aver accertato di persona che non c'è altro da fare), 1.3.6-15 (incendio grave: preparare l'abbandono). Zattera: obbligatoria senza limiti e fino a 50 miglia, costiera fino a 12 (DM 133/2024, slide delle dotazioni).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1.3.6-1 → b) tamponare la falla dall’esterno in modo che la pressione dell’acqua non faccia spostare il “tappo” di fortuna.; 1.3.6-31 → a) si accosta rapidamente dallo stesso lato dell’uomo in mare.; 1.3.7-2 → b) la sagola della zattera deve essere fissata alla barca, prima di lanciarla in acqua.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1.3.9-1 (certificato limitato di radiotelefonista), -2 e -4 (indicativo di chiamata e nominativo internazionale), -3 (VHF fisso omologato), -5 (esonero dalle ispezioni ordinarie), -8 e -10 (canale 16, 156,8 MHz), -17 e -29 (silenzio ai minuti 00-03 e 30-33), -18 (il 16 solo per la prima chiamata), -21 (canali 6, 8, 72, 77), -22 (1 watt a distanza ravvicinata), -23 (responsabile il comandante), -24, -25, -26 (portata ottica: 10-20 miglia, circa 40 con le costiere), -27 (squelch), -28 (riflettore radar). Meteomar sul 68: lezione 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di messaggio con nome e nominativo inventati. Ordine delle informazioni come nel quiz 1.3.9-19: nominativo, posizione, tipo di pericolo. Quiz 1.3.9-12, -14, -16 (MAYDAY tre volte), -13 (PAN PAN), -15 (SÉCURITÉ), -11 (chi riceve rilancia e se possibile soccorre), -20 (SILENCE MAYDAY, pronunciato «seelonce»), 1.3.5-1 (falla irreparabile: MAYDAY), 1.3.8-7 (DSC: il tasto rosso invia in automatico il soccorso con la posizione), 1.3.9-6, -7, -9 (razzi e fuochi a mano: slide Chiedere soccorso).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1.3.8-25 (1530), 1.3.2.113 (CIRM, unico quiz della voce 3b), 1.3.7-7 (soccorso marittimo: ricerca e salvataggio della vita umana), -8 (coordinamento: Comando generale del Corpo delle Capitanerie di porto), -9 (l'Autorità marittima può chiedere alle unità in porto o nelle vicinanze di partecipare), -10 (obbligo di assistenza senza rischio per sé), 1.8.1-7…-10 (sanzioni per omesso soccorso, lezione 7), 1.3.8-24 (braccia allargate, segnale di pericolo). Il CIRM risponde 24 ore su 24 via radio, telefono ed e-mail.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1.3.8-2 e -23 (preparare la barca; chiudere tutto tranne le prese a mare del motore), -3 (tempesta da terra: verso la costa), -4 e -19 (tempesta dal mare: alla cappa, al mascone), -5 (mare in poppa: ridurre), -8 (non al traverso), -9 (puntare leggermente la cresta), -1 e -10 (trim), -11…-14 (flaps; il -15 è oscurato), -16 (stacco di sicurezza), -17 e -6 (nebbia), -20 (risacca), -21 (ancora galleggiante; il -18 è oscurato), -22 (in solitario: cintura e agganciarsi), -24 (braccia per chiamare attenzione).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Voce 3a dell'All. A, 12 quiz (1.3.2). Quiz 1.3.2-2 (2.755-15.000 euro secondo il tasso), -3 (sospensione da 3 a 24 mesi), -1 e -5 (revoca con danno ambientale), -4 (stupefacenti: 2.755-11.017 euro), -8 (raddoppio in caso di sinistro), -6 e -10 (noleggio), -7 (sospensione della licenza di navigazione), -9 (effetti fino a 5 ore), -11 (sedativi e alcol), -12 (attenzione molto bassa). Le cifre sono quelle delle risposte della banca: il riferimento è l'art. 53-bis del Codice della nautica.</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1.3.9-17 → c) nei primi 3 minuti successivi all'inizio dell'ora intera e della mezz'ora.; 1.3.8-3 → b) dirigersi in sicurezza verso la costa ove il moto ondoso è più attenuato.; 1.3.2-9 → b) perdurano anche fino a 5 ore.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1.5.3-66 → a) due coni sovrapposti con i rispettivi vertici rivolti verso l'alto.; 1.4.1-10 → c) a 500 metri.; 1.3.3-24 → a) oltre 12 miglia dalla costa: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1.5.2-35 → c) rapidi suoni di campana per cinque secondi ad intervalli non superiori a un minuto.; 1.3.1-2 → c) fuochi da solidi e fuochi da liquidi.; 1.3.3-43 → c) quando naviga oltre le 12 miglia nautiche dalla costa.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casa: i quiz su fari e IALA, porti, dotazioni e incendio, e quelli su sinistri, radio e soccorso (1.3.2, 1.3.5-1.3.9).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