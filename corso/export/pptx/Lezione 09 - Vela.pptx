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Lezione 9, solo per chi fa la patente a vela: chi fa solo motore la salta. Rivista sulla scaletta della scuola (18 argomenti): ferramenta di bordo; albero, boma e manovre fisse; manovre correnti; vele; lati e angoli delle vele; armare le vele; stabilità e scarroccio; andature; poggiare e orzare; regolazione vele; virata e abbattuta; terzaroli e panna; vento apparente e reale; centro velico e centro di deriva; piano velico; vele di prora; nodi; precedenze. All. A al DM 323/2021, punto 1c. All'esame la prova di vela ha 5 quesiti Vero/Falso in più rispetto alla patente a motore: si supera con al massimo 1 errore. Banca ufficiale: 250 quiz (99 teoria, 86 attrezzatura, 65 manovre).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Quattro capitoli di teoria in 75 minuti, ognuno aperto dalla sua slide e chiuso da una verifica da 2 quiz vela ufficiali (DD 131/2022): andare spediti, il dettaglio è nelle note. Poi 45 minuti di raccolta: 36 quiz vela, 12 slide da 3 con le risposte. Banca: 2.2.1 attrezzatura (86), 2.1.1 teoria della vela (99), 2.3.1 manovre (65). Le prove d'esame complete con i 5 quiz vela sono nell'appendice 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18 minuti, verifica da 2 quiz compresa: andare spediti, il dettaglio è nelle 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Materiale della scuola: albero, boma, manovre fisse. Colori: blu manovre fisse, corallo trozza e lande, viola boma, verde acqua scafo. Quiz 2.2.1-77 e -29 (stralli e sartie: manovre fisse), -69 (sartie in acciaio), -72 (non passano dentro l'albero), -7 (le sartie non si regolano con il carrello), -6 e -5 (crocette: tensionano le sartie, non reggono le scotte; in realtà le allargano, ma al quiz vale la frase della scuola), -42 (landa), -45 (trozza), -44 (varea del tangone: non è l'anello del mantiglio), -1, -2, -3, -4 (armo frazionato e sartie volanti; non c'entrano i compartimenti dello scafo), -52 e -53 (paterazzo), -74 (l'albero si regola sulle manovre fisse), 2.1.1-1 e -2 (scafo).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Materiale della scuola: manovre correnti. Quiz 2.2.1-75 (manovre correnti: scotte, drizze, vang, tesabase), -29 (stralli e sartie non lo sono), -33 (cunningham), -71 (vang), -52 (il paterazzo non regola il vang), -30 (paranco di scotta: demoltiplica lo sforzo), -40 (carrello randa: non serve a dare volta alle scotte), -12 (tesabase all'angolo di scotta), 2.3.1-8 e -16 (drizza tesata, base più o meno cazzata secondo l'andatura).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Materiale della scuola: ferramenta di bordo. Quiz 2.2.1-37 (ferramenta: strozzascotte, winch, arridatoi, gallocce), -41 (galloccia: non per le draglie), -43 (golfare), -39 (grilli: non riducono lo sforzo), -70 (tornichetto: tesa le sartie, non unisce cime), -85 e -86 (stopper: blocca una drizza, non fissa il boma), -35 (il winch non è fatto di due bozzelli), -36 e -78 (senso orario), -76 (self-tailing: non elettronico).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Materiale della scuola: nodi. Quiz 2.2.1-54 e -55 (gassa d'amante: non si scioglie da sola, non accorcia), -56 (nodo piano: non con cime di diametro diverso), -57 (savoia), -58 (parlato per i parabordi), -59 (margherita: accorcia), 2.3.1-21 (le scotte del fiocco non si fissano con il parlato doppio), 2.2.1-67 (impiombatura), -38 (polipropilene). Come si fanno, passo per passo: appendice 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2.2.1-77 → a) Vero; 2.2.1-35 → b) Falso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16 minuti, verifica da 2 quiz compresa: andare spediti, il dettaglio è nelle 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Materiale della scuola: vele. Quiz 2.2.1-16 (randa: vela principale, triangolare, a poppavia dell'albero), -20 e -18 (il fiocco non si sovrappone, il genoa sì), -19 (genoa: 50% della distanza tra albero e mura, cioè un genoa al 150%), -17 (il genoa non è una vela ridotta da cattivo tempo), -84 (avvolgifiocco), -83 (ridotto oltre il 30% perde efficienza), -73 (avvolgiranda), -46 (resistenza alla trazione), -47 (dacron), -48 (sole), 2.1.1-43 e -44 (stecche: conservano la forma, non indicano il vento).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Materiale della scuola: lati e angoli delle vele. Quiz 2.2.1-12 (angolo di scotta tra base e balumina), -13 e -14 (penna e mura: i falsi scambiano i lati), -9 (la balumina non è il lato più corto), -10 (ralinga nella canaletta dell'albero), -11 (sulla base non ci sono le tasche delle stecche), 2.3.1-14 (il punto di mura non è sulla varea del boma), 2.2.1-51 (garrocci), 2.1.1-85 (corda).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2.2.1-15 (il fiocco non limita a 40-70°), -21 (lo spinnaker non è la vela principale né da bolina), -22 (gennaker 60-120°), -23 e -24 (code 0: poco vento, bolina larga-traverso; non è inferito), -49 e -50 (set di vele), -64 e -65 (manovre dello spinnaker: il braccio regola la mura), -80 (la calza), -81 e -82 (fiocco autovirante), 2.3.1-35 e -36 (strallare e quadrare il tangone), -25 (la tormentina non serve a rallentare risalendo il vento).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Materiale della scuola: piano velico. Quiz 2.1.1-72 (piano velico: numero di alberi e tipo di vele), 2.1.1-2 (scafo), 2.2.1-25 (sloop), -26 (cutter), -27 (ketch: mezzana a proravia dell'asse del timone), -49 e -50 (set di vele del catamarano e dello sloop), 2.1.1-45 (il multiscafo ha maggiore stabilità: di forma; ma se si capovolge non si raddrizza da solo). Lo yawl, non in banca, ha la mezzana a poppavia del timone.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Materiale della scuola: armare le vele. Quiz 2.3.1-20 (drizza con moschettone impiombato), 2.2.1-79 (grillo di penna con perno di blocco), 2.2.1-10 (ralinga), -60 e -61 (lazy jack: sagole per raccogliere la randa, non una drizza d'emergenza), 2.3.1-13 e -15 (la randa non si arma con la borosa sulla mura né con la tavoletta nel meolo), -17 (genoa e fiocco si armano allo stesso modo), -18 (prima operazione: la mura, non la bugna), -19 (garrocci dalla mura verso la penna), -21 (scotte: non il parlato doppio), -22 (prua al vento), -23 e -24 e 2.2.1-62 (strallo cavo e feeder), 2.3.1-1, -2, -39 (sventare).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2.2.1-18 → b) Falso; 2.3.1-19 → b) Falso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21 minuti, verifica da 2 quiz compresa: andare spediti, il dettaglio è nelle 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2.1.1-6, -7, -49 (definizione di andatura: attenzione, -49 è Falso perché dice «direzione verso cui procede» senza riferirsi al vento reale come nella -6), -16…-19 e -50…-54 (angoli delle andature), -24, -25, -57 (settore di bordeggio o angolo morto), -68 e -69 (sopravento e sottovento), -70 (le mure non sono il lato dove frangono le onde), 2.3.1-50 (stringere oltre l'angolo di bordeggio per rallentare), -51 (poggiando da bolina stretta a larga si accelera). Tra lasco e poppa: gran lasco e giardinetto.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2.1.1-8…-11 (a favore di vento l'apparente è la differenza, controvento la somma), -12 e -13 (sempre più a proravia del reale), -14 e -15 (più forte quanto più si va verso il vento), -20…-23, -55, -56 (di bolina sembra di andare veloci, in poppa piano), -26 e -27 (la raffica porta l'apparente verso poppa: si può orzare), -36 (la messa a segno delle vele dipende dall'apparente), -74 (svergolamento: il vento reale aumenta con l'altezza). Il vento di velocità ha la stessa intensità della velocità della barca e verso opposto.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2.1.1-5 (la vela si orienta rispetto al flusso del vento), -28 e -96 (angolo di incidenza), -37 e -38 (la pressione dipende dall'angolo di incidenza), -39, -40, -83, -84 (propulsione parallela all'asse, scarroccio perpendicolare, entrambe dalla forza sulla vela), -78 (scarroccio), -58 (il lato sottovento è in depressione), -48 (la vela non si pone da sola a 45°), -73 (la portanza non è un peso), -85 (corda), -86 (la concavità non riduce la resistenza all'avanzamento), -71 (grasso), -80 (smagrire), -35 e 2.3.1-33 (planata).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Materiale della scuola: stabilità e scarroccio. Quiz 2.1.1-3 e -46, -47 (il bulbo zavorrato dà stabilità e contrasta le azioni esterne; non serve alla velocità), -91 (troppo sbandata va più piano), -87…-90 (pesi dell'equipaggio), -45 (multiscafo più stabile), -79 (scuffia), 2.3.1-60 (falchetta in acqua: ridurre). La scuola dice che la stabilità è assicurata dal bulbo: è la risposta del quiz. Conta anche la forma dello scafo: più largo, più stabile all'inizio. Lo scarroccio e le forze sono nella slide precedente.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Materiale della scuola: centro velico e centro di deriva. Quiz 2.1.1-29, -59, -60 (centro velico), -30, -61, -62, -67 (centro di deriva), -31, -32, -33, -63…-66 (tendenze: CV a proravia = poggiera, allineati = neutra), -34 e -66 (da cosa dipende la posizione del CV), -41, -42, -93, -94 (inclinazione dell'albero), -97 (randa orziera, genoa poggiero), -87…-92 (pesi dell'equipaggio, pesi a prua contro la tendenza poggiera, meglio leggermente orziera; troppo sbandata di bolina va più piano), 2.3.1-58 (ridurre la randa diminuisce la tendenza orziera).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Materiale della scuola: regolazione vele. Quiz 2.1.1-37 e -96 (angolo di incidenza), -98 e 2.3.1-52 (vento in aumento: cunningham, tesabase, drizza genoa cazzati, punto di scotta del genoa arretrato), 2.3.1-53 (non si smagrisce per aumentare la potenza), -55 (raffica: carrello sottovento o scotta lascata), 2.2.1-53 (paterazzo), 2.1.1-95 (lascare drizza e base: grasso, fil di ruota), 2.3.1-8 e -16 (base più o meno cazzata secondo l'andatura), -50 e -51 (stringere rallenta, poggiare da bolina stretta a larga accelera), 2.1.1-74 (svergolamento), -71 (il grasso non è la parte vicina alla drizza), -80 (smagrire).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2.1.1-12 → a) Vero; 2.1.1-64 → a) Vero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20 minuti, verifica da 2 quiz compresa: andare spediti, il dettaglio è nelle 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2.3.1-3 e -4 (per poggiare barra sopravento, opposta alla randa), -42 (non con la barra al centro), -37 e -38 (poggiare e orzare), 2.1.1-81 e -82 (stringere il vento e poggiare), 2.3.1-65 (lascare la randa agevola la poggiata), -56 (per una poggiata rapida non basta lascare il fiocco), 2.3.1-1, -2, -39 (sventare), 2.1.1-75 e -76 (straorza e strapoggia), -79 (scuffia).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2.3.1-9 (abbattuta: la poppa attraversa il vento), -10, -11, -41 (a cosa non serve la virata), -12 (l'abbattuta non si fa alla massima velocità di bolina o al traverso), -40 (virata e abbattuta: le manovre per cambiare mure), -57 (ritenuta del boma contro la strambata al granlasco e al giardinetto), -61, -62, -63 (strambata: abbattuta involontaria), 2.2.1-81 (con il fiocco autovirante in virata non si cazza la scotta). Straorza 2.1.1-75, strapoggia -76, scuffia -79; la virata non serve a evitare ostacoli né ad ammainare lo spi. Comandi: «pronti a virare», «vira»; «pronti ad abbattere», «abbatti».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Materiale della scuola: terzaroli e panna. Quiz 2.3.1-59 e -60 (quando ridurre), -58 (meno randa, meno orziera), -30 e -31 (terzaroli: non si abbassa il tangone, non si cambia randa; il matafione non è una vela), 2.2.1-68 (la borosa non è sullo strallo cavo), -34 (il tesabase non è sulla base del fiocco), 2.3.1-27 e -28 (panna: non per aumentare la velocità), -29 (cappa: ancora galleggiante da prua, non da poppa; vedi lezione 6), -25 e -26 (tormentina e fileggiare), 2.2.1-83 (genoa ridotto oltre il 30%).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2.3.1-5, -45, -46, -47, -48 (mure a dritta ha la precedenza), -7 e -44 (stesse mure: sottovento ha la precedenza, sopravento orza), -49 (nel dubbio lasciare libera la rotta), -6 e -43 (non conta la velocità). È la regola 12 del COLREG: il rapporto tra vela e motore è nella lezione 5. 2.3.1-64 (salvo ordinanze, in porto non si entra a vela).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Ripasso della lezione in forma di domande rapide: per ogni riquadro chiedere alla classe prima di scoprirlo. Riferimenti: 2.1.1-16…-24 e -50…-54 (andature), -8…-15 e -20…-23 (vento apparente), 2.3.1-5, -7, -44…-49 (precedenze), 2.1.1-29…-34, -64, -65 (CV e CD), 2.3.1-9, -40, -61…-63 (virata, abbattuta, strambata), 2.2.1-28, -29, -75, -77 (manovre fisse e correnti), 2.3.1-58…-60 (ridurre).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2.3.1-4 → b) Falso; 2.3.1-47 → a) Vero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Inizio degli ultimi 45 minuti: 12 slide da 3 quiz ufficiali, ognuna seguita dalle risposte.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Ultimi 45 minuti della lezione. 12 slide da 3 quiz vela, tutti Vero o Falso, ciascuna seguita dalle risposte: circa 3 minuti e mezzo per slide. Far rispondere ad alta voce, poi chiedere perché la frase è vera o falsa. Per la simulazione a tempo (5 quesiti, al massimo 1 errore) usare le prove dell'appendice 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2.2.1-6 → a) Vero; 2.2.1-42 → a) Vero; 2.2.1-4 → b) Falso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2.2.1-75 → a) Vero; 2.2.1-33 → a) Vero; 2.2.1-52 → b) Falso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2.2.1-36 → a) Vero; 2.2.1-70 → b) Falso; 2.2.1-57 → a) Vero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2.2.1-54 → b) Falso; 2.2.1-59 → a) Vero; 2.2.1-67 → a) Vero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2.2.1-48 → a) Vero; 2.2.1-47 → b) Falso; 2.1.1-43 → a) Vero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2.2.1-10 → a) Vero; 2.2.1-12 → a) Vero; 2.2.1-22 → a) Vero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2.1.1-72 → a) Vero; 2.2.1-26 → a) Vero; 2.2.1-61 → a) Vero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2.1.1-50 → a) Vero; 2.1.1-53 → b) Falso; 2.1.1-7 → b) Falso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2.1.1-22 → a) Vero; 2.1.1-39 → a) Vero; 2.1.1-3 → a) Vero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2.1.1-42 → a) Vero; 2.1.1-97 → a) Vero; 2.3.1-52 → a) Vero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2.3.1-9 → a) Vero; 2.3.1-62 → b) Falso; 2.3.1-31 → b) Falso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2.3.1-3 → a) Vero; 2.3.1-7 → a) Vero; 2.3.1-48 → a) Vero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casa: i 250 quiz di vela, tutti Vero o Falso, e le prove d'esame dell'appendice D con i loro 5 quiz vela.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jpg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jp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jpg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jpg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jpg"/><Relationship Id="rId3" Type="http://schemas.openxmlformats.org/officeDocument/2006/relationships/notesSlide" Target="../notesSlides/notesSlide6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