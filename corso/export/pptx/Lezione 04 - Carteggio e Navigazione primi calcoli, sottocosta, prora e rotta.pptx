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4. Segue la scaletta della scuola «Carteggio · Navigazione»: rosa dei venti, rotte e quadranti, bussola, rotte e coordinate, navigazione stimata, misurazione e calcolo delle miglia, velocità, tempo, carburante, rotta vera e prora vera, scarroccio, deriva, angoli di scarroccio e deriva, moto proprio ed effettivo, declinazione, deviazione, tabella delle deviazioni, navigazione costiera, punto nave 1 e 2, rilevamento polare, rilevamenti, GPS: tutta la scaletta in una lezione. Aggiunta dall'All. A: condotta sottocosta (punto 4a). Gli ultimi 45 minuti sono una raccolta di quiz ufficiali. Attracchi, ormeggi e ancoraggi sono nella lezione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Sette capitoli di teoria in 75 minuti, nell'ordine della scaletta della scuola «Carteggio · Navigazione», con una verifica da 2 quiz alla fine di ognuno: il programma è denso, andare spediti sulle slide, il dettaglio è nelle note. Poi 45 minuti di raccolta quiz. Banca DD 131/2022: orientamento e bussola 49 quiz (1.7.4), navigazione stimata 71 (1.7.5), navigazione costiera 49 (1.7.6), navigazione elettronica 13 (1.7.3), prora e rotta, scarroccio e deriva 30 (1.7.7), carburante 1.2.3, navigazione in prossimità della costa 32 (1.4.2).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11 minuti, compresa una verifica da 2 quiz alla fine. Quiz 1-2 nella raccolta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1.7.4-1, -4, -5, -6, -7 (in quale quadrante: 157° II, 224° III, 320° IV, 038° I, 099° II), -2 e -3 (sulla carta: 048° in alto a destra, 167° in basso a destra, 301° in alto a sinistra, 249° in basso a sinistra), -8 (senso orario), -9, -10, -11 (cardinali e intercardinali). I nomi dei venti tornano in meteorologia (lezione 7) e nel Portolano.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1.7.4-14 e -29 (rosa ed equipaggio magnetico), -12, -30, -46 (gli aghi puntano al Nord bussola), -33 (rosa da 0 a 360 in senso orario dal Nb), -31, -41, -44, -45 (linea di fede parallela all'asse longitudinale, sotto si legge la prora), -36 (mantiene la prora), -28 (liquido), -49 (sospensione cardanica), -15 (a cosa serve la bussola). Il quiz 1.7.4-13 è oscurato. Nel disegno la barca ha prora bussola di circa 035°. Perché la bussola non indica il Nord vero: declinazione e deviazione, capitolo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1.7.5-18 (squadrette e parallele), -19 (compasso: distanze e coordinate), 1.7.2-30 (compasso a punte secche per non rovinare la carta), -71 (strumenti obbligatori oltre 12 miglia). Portare in aula squadrette e compasso: da qui in poi ogni lezione ha un po' di carteggio.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Due punti con le coordinate: A 42°11′N 009°58′E, B 42°19′N 010°19′E. Dalla carta: Rv 063° e circa 17,5 miglia (Δφ 8′, appartamento 21′ × cos 42° ≈ 15,6′). Le coordinate si riportano col compasso dalle scale ai lati e in basso. Quiz 1.7.5-19 (compasso per le coordinate), 1.7.7-6 e -7 (Rv 090 cambia solo la longitudine, Rv 180 solo la latitudine), -9 (la rotta si legge sulla rosa della carta), -5 (rotte opposte: 180°). Il carteggio vero e proprio si fa dalla lezione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1.7.4-9 → a) Nord (N), Sud (S), Est (E) e Ovest (W).; 1.7.4-45 → a) sia parallela all’asse longitudinale (chiglia) dell’imbarcazione.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14 minuti, compresa una verifica da 2 quiz alla fine. Quiz 2-4 nella raccolta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1.7.5-9 e -28 (punto stimato), -30 (elementi: Pv, velocità, posizione iniziale, tempo), -23 (bussola, solcometro, orologio), -1 (GPS e radar non danno posizione stimata), -11 e -22 (cause di errore), -3 e -12 (zona di incertezza), -29 (insostituibile ma insufficiente), -36 (punto nave con almeno due luoghi di posizione: capitolo 5), -2 e -10 (si risolve graficamente sulla carta di Mercatore).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Nel disegno il tratto AB misura 6,4 miglia. Quiz 1.7.5-33 e -52 (distanza sulla scala delle latitudini, alla stessa latitudine), 1.7.2-37 (misura della distanza), 1.7.5-26 (il miglio è l'unità delle distanze), 1.7.5-19 (compasso). Se il tratto è più lungo dell'apertura comoda, si apre il compasso su un numero tondo (per es. 5 miglia) e lo si fa «camminare» lungo la rotta. Sulla carta di Mercatore la scala cresce verso i poli: per questo si misura all'altezza del tratto.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Metodo della scuola: il tempo sempre in minuti (Tᵐ) e il 60 al centro del triangolo. Si copre la lettera che si cerca: coprendo M resta V × Tᵐ, poi : 60; coprendo V resta M : Tᵐ, poi × 60; coprendo Tᵐ resta M : V, poi × 60. Il risultato in minuti si riporta in ore e minuti dividendo per 60 (154′ = 2 h 34′). Chi preferisce le ore e decimi usa M = V × T con T in ore: il risultato è lo stesso. Quiz 1.7.5-13, -14, -25, -51 (nodo = un miglio all'ora), -15, -16, -17 (le tre formule), -26 (miglio per le distanze), -35 (ricalcolare a ogni cambio di velocità), -54 (4,4 h = 4 h 24′).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 dai quiz ufficiali: 1.7.5-31 (15 kn, 45′ → 11,25 mg), -65 (18 mg, 7 kn → 2 h 34′), -63 (3 h 30′, 24,5 mg → 7 kn; attenzione, nell'elenco il numero 1.7.5-63 compare due volte). Altri da fare alla lavagna: -39 (9 kn, 45′ → 6,75), -41, -57 (11,6 mg a 6 kn → 116′ = 1 h 56′), -60 (6 kn, 2 h 45′ = 165′ → 16,5), -64 (2 h 20′ = 140′ a 12 kn → 28 mg).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Formule della scuola: carburante totale = consumo orario × tempo × 1,3; sola riserva = consumo orario × tempo : 100 × 30. Il tempo si ricava con Tᵐ = M : V × 60. Quiz 1.2.3-1 (riserva del 30%), -2 (consumo dalla potenza: 300 g/CV/h × 80 CV = 24 kg/h, : 0,75 kg/l = 32 l/h), -15, -16, -17 (sola riserva: 90 mg a 30 kn, 28 l/h → 25 litri; 84 mg a 21 kn → 4 h; 100 mg a 40 kn → 2,5 h). Esercizi di carteggio sul carburante: famiglie 5.x.2 (lezione 11), con le risposte ufficiali a intervallo, per es. 5.1.2-1 «29÷31 litri», 5.1.2-2 «19÷21 litri».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1.7.5-59 → b) 10 miglia.; 1.7.5-44 → a) 2,85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12 minuti, compresa una verifica da 2 quiz alla fine. Quiz 5 nella raccolta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Nel disegno la barca tiene sempre Pv 035° (le frecce scure sono parallele), ma il percorso sul fondo è Rv 058°. Quiz 1.7.7-4 e -8 (prora), -1, -2, -3 (rotta vera), -5 (rotte opposte 180°), -9 (si legge sulla rosa della carta), -30 (Pv = Rv solo con vento o corrente da prora o da poppa), -28 (vento in poppa: cambia la velocità, non la direzione). Il quiz 1.7.7-10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1.7.7-12 e -26 (scarroccio dovuto al vento), -19 e -23 (da cosa dipende: meno opera viva e più superficie esposta, più scarroccio), -21 (tocca tutte le unità), -20 (vento apparente, somma vettoriale), -22 (vento 180 soffia verso Nord). Il segno: nella slide degli angoli.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1.7.7-14, -25, -27 (deriva dovuta alla corrente), -24 (moto dovuto alle correnti), -16 (non dipende dallo scafo: è indifferente), -22 (corrente 180 va verso Sud). Primo problema di corrente: lezione 9; esercizi 5.x.1 nelle lezioni 13-15.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segno vale per tutti e due gli angoli: positivo se la barca va a dritta della prora, negativo se va a sinistra. Nel disegno la grigia è il vento (indicato da dove viene), l'azzurra la corrente (indicata verso dove va). Quiz 1.7.7-18 (positivo a dritta, negativo a sinistra), -29 (rotta Nord con vento e corrente 180: agevolata dallo scarroccio, contrastata dalla deriva), -28 (vento di poppa: solo velocità), -30 (Pv = Rv solo con vento o corrente di prora o di poppa). Con vento contrario alla corrente il mare si fa corto e ripido (lezione 7). Le formule servono negli esercizi 5.x.4 (lezione 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1.7.7-11 e -15 (moto e velocità propri: sole eliche), -17 (Ve rispetto al fondo), -13 (moto effettivo: Rv e Ve), -24 (moto dovuto alle correnti), -20 (vento apparente, somma vettoriale). Primo problema di corrente: lezione 9; esercizi 5.x.1 nelle lezioni 13-15.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1.7.7-22 (vento 180 soffia verso nord, corrente 180 va verso sud), -29 (rotta Nord con vento e corrente 180: scarroccio favorevole, deriva contraria). Esempio dall'esercizio ufficiale 5.1.4-2: Rv 090°, Grecale, Sc +10° → Pv 080°. Il Grecale da NE spinge la barca verso Sud, cioè a dritta rispetto a una prora a Est: per questo lo scarroccio è positivo.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1.7.7-26 → a) all'azione del vento.; 1.7.7-27 → b) all'effetto della corrente.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11 minuti, compresa una verifica da 2 quiz alla fine. Quiz 6 nella raccolta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1.7.4-17 e -21 (declinazione tra Nv e Nm, meridiano geografico e magnetico), -18, -25, -32, -39 (magnetismo terrestre, varia con luogo e tempo), -22 (si legge sulla carta), -23 (tra 0 e 180 E o W), -34 (Est positiva, Ovest negativa). Aggiornare: sulla carta 5/D «0°20′E 1994 (7′E)»; nel 2008 sono 14 anni × 7′ = 98′ = 1°38′ in più, d = 1°58′E ≈ 2°E (esercizio 5.3.3-2).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1.7.4-19 (deviazione tra Nm e Nb), -26 e -40 (ferri duri e dolci, magnetismo di bordo), -42 (varia con la prora), -38 (segno: Nb a Est positivo, a Ovest negativo), -35, -47, -48 (senza masse ferrose Nb = Nm). Tenere lontani dalla bussola telefoni, radio portatili, utensili e casse acustiche.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Valori ogni 15° della tabella di deviazione allegata agli esercizi ufficiali di carteggio (DD 131/2022, la stessa per le carte 5/D e 42/D; tabella completa ogni 5° nella lezione 10). Esempio dall'esercizio 5.3.3-2: Pv 184°, d 2°E → Pm 182° → δ +3° → Pb 179°. Quiz 1.7.4-16 (perito compensatore autorizzato dall'Autorità marittima), -20, -24, -27, -43 (tabella delle deviazioni residue dopo la compensazione e i giri di bussola), -37 (controllo: allineamento, stella polare). Tra due valori della tabella si interpola o si prende il più vicino.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 dagli esercizi ufficiali di carteggio (DD 131/2022): 5.1.3-1 (Pb 350°, d 1°E, δ 0° → Pv 351°) e 5.1.3-2 (Pb 086°, d 2°W, δ −2° → Pv 082°; lì anche Rilb 164° → Rilv 160°, Rilb 194° → Rilv 190°). Regola dei segni: Est positivo, Ovest negativo (quiz 1.7.4-34). In molti esercizi è data direttamente la variazione magnetica V (es. 5.1.2-2 e 5.1.3-3).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1.7.4-21 → a) tra la direzione indicata dal meridiano geografico e quella indicata dal meridiano magnetico.; 1.7.4-38 → c) positivo se il nord bussola si trova a Est del nord magnetico e segno negativo se il nord bussola si trova a Ovest del nord magnetico.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11 minuti, compresa una verifica da 2 quiz alla fine: andare spediti, il dettaglio è nelle note. Quiz 7-9 nella raccolta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1.7.6-23 e -41 (navigazione costiera: punti cospicui, vista della costa), -3 e -4 (carte a scala adeguata e pubblicazioni), -7 (punti ben visibili entro 8-10 miglia), -45 (il campanile è un punto cospicuo), -5, -6, -49 (precisione e affidabilità), 1.7.5-71 (strumenti da carteggio obbligatori oltre 12 miglia). L'esperienza conta: riconoscere un faro di giorno dalla forma e dai colori, di notte dalla caratteristica (lezione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1.7.6-39 (definizione: insieme di punti con la stessa proprietà), -2 (rette di rilevamento, cerchi capaci, cerchi di uguale distanza, batimetriche), -38 (la rosa dei venti non lo è), -14 (cerchio capace), -46 (un solo luogo non basta). Semiretta e non retta: il faro si vede solo da una parte, quella da cui lo guardo. La batimetrica si usa con l'ecoscandaglio, tagliandola perpendicolarmente per non confondere le linee vicine.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1.7.6-1 (intersezione di due o più luoghi di posizione), -46 (un solo luogo non basta), -11 e -32 (allineamento: rilevamenti uguali o a 180°), -48 (due torri allineate: serve un altro luogo di posizione), -12 (squadrette per tracciare i rilevamenti). All'esame: «PN per due rilevamenti simultanei», per es. 5.2.3-2, 5.4.3-2, 5.6.3-1 (lì i rilevamenti sono tre: il terzo è la verifica). Prima di tracciare: Rilv = Rilb + 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1.7.6-19 (servono un rilevamento e una distanza del punto cospicuo), -47 (con un solo punto cospicuo si può, se nota la distanza), -16 (5 miglia sul Rlv 180° del faro: sono a Nord, a 5 miglia), -21 (6 miglia sul Rlv SW: sono a NE). All'esame «PN per rilevamento e distanza» compare in circa 30 esercizi, per es. 5.4.3-6, 5.4.3-8, 5.8.3-3, 5.1.1-1. Variante: allineamento e distanza (5.1.1-3).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1.7.6-1 (intersezione di due o più luoghi di posizione), -12 e -13 (squadrette e compasso). Esercizi ufficiali «PN per rilevamenti successivi sulla stessa mira» (5.1.3-1…-5, 5.4.3-1, -5, 5.5.3-1): si convertono i rilevamenti bussola in veri (Rilv = Rilb + V), si tracciano le due semirette, si trasporta la prima parallelamente a sé stessa lungo la rotta per le miglia percorse; l'incrocio con la seconda è il punto nave. Nel 5.1.3-1: 20′ a 9 nodi = 9 × 20 : 60 = 3 miglia. Si risolvono nella lezione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1.7.6-1 → c) dall'intersezione di due o più luoghi di posizione.; 1.7.6-48 → a) sì, ma ho bisogno di almeno un altro luogo di posizione.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11 minuti, compresa una verifica da 2 quiz alla fine. È la parte finale della scaletta «Carteggio · Navigazione»: tutti i rilevamenti e le tecniche del punto nave. Quiz 10-11 nella raccolta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1.7.6-8 (angolo tra asse longitudinale e oggetto), -9 (circolare da 000° a 360° in senso orario dalla prora), -10 e -29 (semicircolare: positivo a dritta, negativo a sinistra), -17 (ρ 90° e traverso coincidono sempre), -33 (traverso = polare 90°), -18 (con scarroccio o deriva si accosta quando il punto è perpendicolare all'asse longitudinale), -35 (grafometro). Nel disegno lo stesso faro si legge 300° sul grafometro circolare e −60° su quello semicircolare: con Pv 040° dà sempre Rilv 340°.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Riepilogo dei cinque modi di indicare la direzione di un punto cospicuo. Il rilevamento bussola si converte come la prora: Rilv = Rilb + V, con V = d + δ e δ letta per la prora della barca (non per il rilevamento). Il polare si somma alla prora vera: col grafometro semicircolare il segno fa da solo, con quello circolare si toglie 360° se si supera. Il reciproco serve per sapere dove sono rispetto al faro e per tracciare la semiretta dal faro. Quiz 1.7.6-24 (angolo di rilevamento dal Nord), -8 e -9 (polare), 1.7.4-34 (segni). Esercizio 5.1.3-2: Pb 086°, d 2°W, δ −2° → V −4°: Rilb 164° → Rilv 160°, Rilb 194° → Rilv 190°.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1.7.6-15, -20, -22, -25, -30, -31, -36 (sono a … del faro: lo rilevo per …), -16, -21, -26, -27, -28, -34, -37, -40, -42, -43 (sono sul Rlv … del faro: mi trovo a …), -44 (faro a prora con Rv Ovest: lo rilevo per 270°). Il quiz 1.7.6-28 ha una formulazione ambigua («sono sul Rlv 225°… lo rilevo per Sud-Ovest»): risposta ministeriale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tecniche del punto nave negli esercizi ufficiali di carteggio (DD 131/2022), con quante volte compaiono: due rilevamenti simultanei (24, per es. 5.2.3-2, 5.4.3-2, 5.6.3-1), rilevamento e distanza (30, 5.4.3-6, 5.4.3-8, 5.8.3-3), allineamento e distanza (2, 5.1.1-3, 5.4.1-13), rilevamenti successivi sulla stessa mira (9, 5.1.3-1…-5), su mire diverse (10, 5.2.3-1, 5.3.3-1, 5.3.3-5), rilevamenti polari successivi (21, 5.3.3-4, 5.3.3-6) e punto al traverso (31, 5.3.3-2, 5.3.3-3). In tutte prima si convertono i rilevamenti in veri. Il cerchio capace è un luogo di posizione ma negli esercizi non serve. Le tecniche si fanno sulla carta nelle lezioni 8 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1.7.3-2 (distanza dai satelliti), -3 e -13 (informazioni: lat e long, rotta e distanza dal waypoint, fuori rotta, tempo stimato di arrivo), -5 (pochi metri), -6 (punto nave in ogni istante), -7 (obbligatorio oltre 12 miglia), -4 (apparati fissi e portatili), -8 (waypoint a 500 m dai fanali del porto), -11 (non tiene conto degli ostacoli), -12 (navigazione per waypoint), -1, -9, -10 (MOB). Le dotazioni oltre le 12 miglia: lezione 6. Il GPS non sostituisce la carta: il punto stimato e quello costiero restano indispensabili.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1.7.6-20 → a) 315 gradi.; 1.7.3-8 → a) almeno 500 metri fuori dai fanali del porto, avendo cura che la rotta non passi su ostacoli o secche.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5 minuti, compresa una verifica da 2 quiz. Quiz 12 nella raccolta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1.4.2-4 (200 m), -5 (gavitelli rossi ogni 50 m), -6 e -7 (corridoi: gavitelli gialli o arancioni, bandiere bianche sugli esterni), -17 (a cosa servono i corridoi), -11 (emergenza: remi, perpendicolare alla riva), -25 (navigazione a motore interdetta nella fascia riservata alla balneazione), -10 (sanzione da 414 a 2.066 euro per i limiti di velocità). I limiti di velocità e le distanze li fissa l'ordinanza balneare della Capitaneria: leggerla prima di uscire. I quiz 1.4.2-1 e -3 sono oscurati.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1.4.2-15 (bandierina rossa con diagonale bianca, sub entro 50 m), -2 e -12 (almeno 100 m, moderando la velocità), -19 (sub a non più di 50 m dalla boa), -8 (unità di appoggio: pallone rosso con bandiera), -14 (bandiera A: palombaro), -9 e -16 (di notte luce gialla lampeggiante, visibile ad almeno 300 m), -20…-24 (entro 1 miglio), -13 (manifestazioni sportive). Pesca: -18 (sportiva consentita entro limiti di cattura), -26 (subacquea oltre 500 m dalle spiagge frequentate), -27 (mai di notte col fucile), -31 (mai con autorespiratori), -30 (100 m dagli impianti fissi), -32 (500 m dai pescatori professionali), -28 e -29 (niente reti a circuizione né pesca professionale).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1.4.2-12 → a) modera la velocità e prosegue la navigazione mantenendosi ad una distanza di almeno 100 metri di distanza dal segnale.; 1.4.2-6 → b) con gavitelli di colore giallo o arancione posti perpendicolarmente alla costa sino a una distanza di 250 metri.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I calcoli (quiz 3 e 4) si fanno alla lavagna con il triangolo M · V · Tᵐ. Se il tempo stringe, lasciare per casa le slide 8 e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1.7.4-1 → b) secondo quadrante.; 1.7.4-11 → b) NE (Nord-Est), SE (Sud-Est), SW (Sud-Ovest) e NW (Nord- Ovest).; 1.7.4-12 → a) Nord bussola.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1.7.5-18 → a) squadrette nautiche e parallele.; 1.7.5-1 → a) il GPS e il radar.; 1.7.5-30 → b) prora vera Pv, velocità propria, posizione iniziale, tempo trascorso.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1.7.5-27 → c) 4 miglia.; 1.7.5-39 → a) 6,75 miglia.; 1.7.5-56 → c) 1 ora e 24 minuti.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1.2.3-15 → a) 25 litri.; 1.2.3-16 → b) 22 litri.; 1.2.3-17 → c) 45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 → b) il percorso reale che la nave ha effettuato o dovrà effettuare rispetto al fondo del mare.; 1.7.7-12 → c) deviato il percorso dell'unità a causa dell'azione del vento.; 1.7.7-22 → b) il vento soffia verso nord (Ostro), la corrente, al contrario, va verso sud.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1.7.4-17 → c) la declinazione magnetica.; 1.7.4-20 → a) con i giri di bussola a bussola compensata.; 1.7.4-26 → c) dai ferri duri e dai ferri dolci che si trovano a bordo.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1.7.6-3 → b) la disponibilità di carte di navigazione con scala adeguata, al fine di identificare possibili punti cospicui utili alla determinazione del punto nave.; 1.7.6-9 → a) da 000° a 360° gradi in senso orario a partire dall'asse longitudinale dell'unità.; 1.7.6-23 → b) è in funzione di elementi cospicui riconoscibili dal mare.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1.7.6-2 → a) le rette di rilevamento, i cerchi capaci, i cerchi di uguale distanza e le linee batimetriche.; 1.7.6-14 → b) è il luogo di posizione rappresentato da una circonferenza lungo la quale tutti gli osservatori, nel medesimo istante, misurano la stessa differenza di rilevamento di due distinti punti cospicui sulla costa.; 1.7.6-38 → c) rosa dei venti.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1.7.6-7 → b) ben visibili e compresi entro un raggio visivo tra le otto e le dieci miglia nautiche dalla costa.; 1.7.6-46 → b) no.; 1.7.6-47 → c)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1.7.6-8 → b) l'angolo compreso tra l'asse longitudinale dell'unità navale (prora) e il piano contenente la congiungente unità-oggetto osservato.; 1.7.6-17 → a) coincidono sempre.; 1.7.6-29 → a) l'oggetto rilevato si trova rispettivamente a dritta o a sinistra dell'osservatore rivolto verso prora.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1.7.3-1 → a) conoscere in ogni istante la distanza rispetto al punto in cui è caduto un uomo in mare e determinare la relativa rotta necessaria per tentarne il recupero.; 1.7.3-5 → a) pochi metri.; 1.7.3-9 → a) l’esistenza e il corretto utilizzo del tasto MOB.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1.4.2-4 → c) di massima 200 metri.; 1.4.2-17 → b) è permesso il lancio e l'atterraggio di natanti da diporto propulsi a motore.; 1.4.2-15 → c) un subacqueo in immersione nel raggio di 50 metri dal segnale.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quiz 1.7.4 (bussola), 1.7.5 (navigazione stimata), 1.7.6 (navigazione costiera), 1.7.3 (GPS), 1.7.7 (prora e rotta), 1.2.3 (carburante) e 1.4.2 (costa).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notesSlide" Target="../notesSlides/notesSlide8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