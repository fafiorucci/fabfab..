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Lezione 10, la prima di carteggio. Esercizi ufficiali 5.1.3, 5.2.3, 5.3.3 e 5.4.3 dell'Allegato A al DD 131/2022 (carta 5/D, settori A-D). All'esame 4 esercizi indipendenti in 60 minuti, almeno 3 giusti. Le carte di questa lezione sono ridisegnate da dati OpenStreetMap per spiegare il tracciamento: all'esame si lavora sulla carta 5/D dell'IIM.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Cinque capitoli in 75 minuti, ognuno chiuso da una verifica da 2 quiz ufficiali; negli ultimi 45 minuti la raccolta di 36 quiz di navigazione costiera, bussola e navigazione elettronica (1.7.6, 1.7.4, 1.7.3). In aula si svolgono alla lavagna un esercizio per tecnica e gli altri si danno come lavoro a coppie; le slide della soluzione servono per la correzione e per il ripasso a casa. Per ogni esercizio: una slide con la traccia (e la carta senza soluzione) e una con il tracciamento.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20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Tutte le conversioni degli esercizi di oggi. Esempi: 5.1.3-2 (d −2°, δ −2°: V −4°), 5.2.3-4 (declinazione 2016 1°30′E più 5 anni × 6′ = 2°00′E), 5.3.3-4 e 5.3.3-6 (rilevamenti polari), 5.3.3-2 e 5.3.3-3 (tabella di deviazione: si entra con la prora magnetica Pm = Pv − d). Richiami: bussola e conversioni nella lezione 4, rilevamenti nella lezione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È il «rilevamento trasportato» o punto nave con rilevamenti successivi sulla stessa mira: 5.1.3-1, -2, -4, -5, 5.2.3-2, 5.3.3-4, 5.4.3-1, -2, -5. Il trasporto si fa spostando il faro del cammino e tracciando da lì la parallela al primo rilevamento.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Esercizi 5.2.3-1, -3, -4, -5, 5.3.3-1, -5, -6, -7, 5.4.3-3, -4. Se i rilevamenti fossero contemporanei (lezione 5) basterebbe incrociarli.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Nel 5.1.3-3 il faro che emette un lampo ogni 5 secondi a sud dell'Elba è Capo Poro (Fl 5s). Cammini: 7,5 e 4,5 miglia.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Esercizi 5.3.3-2 e 5.3.3-3 con Scoglio d'Africa. Faro a dritta: la rotta lo lascia sulla destra, quindi è ruotata a sinistra rispetto al rilevamento diretto del faro.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Esercizi 5.1.3-6, 5.4.3-6, -7, -8. Il metodo mantiene costante il rilevamento dell'altra barca: se il rilevamento non cambia e la distanza cala, ci si incontra.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Estratto (Pm da 120° a 200°) della tabella di deviazione allegata agli esercizi ufficiali, la stessa per le carte 5/D e 42/D. Tabella completa nel sito del corso e nell'allegato del decreto. Serve quando la traccia dice «è necessario utilizzare la tabella delle deviazioni allegata». Interpolazione: in tutta la tabella due righe consecutive differiscono al massimo di 1°, e le risposte ufficiali che la usano (5.3.3-2: Pb 176°-182°; 5.3.3-3: 133°-139°) hanno una forchetta di ±3°: la riga più vicina basta sempre. Interpolare non è un errore, ma non serve.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Coste da OpenStreetMap (© contributori OpenStreetMap, ODbL). Settore A: Elba; B: da Follonica a Marina di Grosseto; C: Pianosa e Scoglio d'Africa; D: Formiche, Giglio, Argentario e Talamone. Punta Nera (ovest Elba) e Torre Cala della Ruta (Pianosa) sono state posizionate risolvendo al contrario gli esercizi ufficiali che le usano.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1.7.4-2 → a) la direzione 048 gradi verso l'alto e a destra; la direzione 167 gradi verso il basso e a destra.; 1.7.4-4 → c) terzo quadrante.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42°49’,7N ÷ 42°50’,3N Long 010°02’,0E ÷ 010°02’,6E.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Variazione V = d + δ = +1°: Pv = 351°, Rilv₁ = 076°, Rilv₂ = 126°. Cammino tra i due rilevamenti: 9 × 20/60 = 3 miglia per 351°. Traccia i due rilevamenti dal faro; trasporta il primo di 3 miglia per 351°. Il punto nave è l'incrocio del primo trasportato con il secondo. Risultato: 42°50,0′N · 010°02,3′E. Ufficiale: Lat 42°49’,7N ÷ 42°50’,3N Long 010°02’,0E ÷ 010°02’,6E.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42°52’,2N ÷ 42°52’,8N Long 010°20’,3E ÷ 010°20’,9E.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−2° −2° = −4°: Pv = 082°, Rilv₁ = 160°, Rilv₂ = 190°. Cammino: 5 × 18/60 = 1.5 miglia per 082°. Trasporta il primo rilevamento di 1,5 miglia per 082° e incrocialo con il secondo. Risultato: 42°52,6′N · 010°20,6′E. Ufficiale: Lat 42°52’,2N ÷ 42°52’,8N Long 010°20’,3E ÷ 010°20’,9E.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42°38’,7N ÷ 42°39’,3N Long 010°19’,8E ÷ 010°20’,4E.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Il faro con un lampo ogni 5 s a sud dell'Elba è Capo Poro (Fl 5s). V = −4°: Pv = 100°, Rilv = 042°, 005°, 317°. Cammini fino alle 03h05m: 6 × 75/60 = 7,5 mg e 6 × 45/60 = 4,5 mg per 100°. Trasporta il primo di 7,5 mg e il secondo di 4,5 mg: le tre linee si incontrano nel punto nave. Risultato: 42°39,1′N · 010°20,0′E. Ufficiale: Lat 42°38’,7N ÷ 42°39’,3N Long 010°19’,8E ÷ 010°20’,4E.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42°45’,9N ÷ 42°46’,5N Long 010°02’,4E ÷ 010°03’,0E.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−5°: Rilv₁ = 040°, Rilv₂ = 095° (la Pv è già vera). Cammino: 6 × 30/60 = 3 miglia per 355°. Trasporta il primo rilevamento di 3 mg per 355° e incrocialo con il secondo. Risultato: 42°46,2′N · 010°02,7′E. Ufficiale: Lat 42°45’,9N ÷ 42°46’,5N Long 010°02’,4E ÷ 010°03’,0E.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42°46’,6N ÷ 42°47’,2N Long 009°59’,3E ÷ 010°00’,0E.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−2°: Rilv₁ = 050°, Rilv₂ = 081°. Senza vento né corrente la Rv coincide con la Pv. Cammino: 12,4 × 15/60 = 3.1 miglia per 350°. Trasporta il primo rilevamento di 3,1 mg per 350° e incrocialo con il secondo. Risultato: 42°46,9′N · 009°59,6′E. Ufficiale: Lat 42°46’,6N ÷ 42°47’,2N Long 009°59’,3E ÷ 010°00’,0E.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42°52’,5N ÷ 42°53’,1N Long 010°05’,7E ÷ 010°06’,3E.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Da B traccia la rotta di Serenity (240°) e congiungi A con B. Da A disegna la velocità di Serenity: 4 mg per 240° (1 ora). Dalla punta traccia la parallela ad AB e tagliala da A con il compasso aperto di 6 mg: la rotta di intercettazione è 022°. Dove questa rotta taglia quella di Serenity c'è D: incontro dopo 1h19m. Risultato: 42°52,4′N · 010°05,8′E. Ufficiale: Lat 42°52’,5N ÷ 42°53’,1N Long 010°05’,7E ÷ 010°06’,3E.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1.7.6-4 → c) adeguate pubblicazioni nautiche che consentano il riconoscimento della costa.; 1.7.6-5 → b) la navigazione costiera costituisce un tipo di navigazione molto impegnativa, in quanto effettuata in prossimità della costa, ove sono presenti molto spesso punti cospicui sconosciti, che non risultano facilmente identificabili provenendo dal largo.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10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42°45’,4N ÷ 42°46’,0N Long 010°43’,0E ÷ 010°43’,6E.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+3° −4° = −1°: Pv = 280°, Rilv₁ = 045°, Rilv₂ = 350°. Cammino: 12 × 30/60 = 6 miglia per 280°. Trasporta di 6 mg il rilevamento dei fanali di Castiglione e incrocialo con quello dello Sparviero. Risultato: 42°45,7′N · 010°43,3′E. Ufficiale: Lat 42°45’,4N ÷ 42°46’,0N Long 010°43’,0E ÷ 010°43’,6E.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42°46’,4N ÷ 42°47’,0N Long 010°37’,9E ÷ 010°38’,5E.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−4°: Rilv₁ = 030°, Rilv₂ = 070° (la Pv è già vera). Cammino: 6 × 30/60 = 3 miglia per 315°. Trasporta il primo rilevamento di 3 mg per 315° e incrocialo con il secondo. Risultato: 42°46,7′N · 010°38,2′E. Ufficiale: Lat 42°46’,4N ÷ 42°47’,0N Long 010°37’,9E ÷ 010°38’,5E.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42°46’,5N ÷ 42°47’,1N Long 010°41’,9E ÷ 010°42’,5E.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−1°: Pv = 270°, Rilv₁ = 350°, Rilv₂ = 020°. Cammino: 6 × 34/60 = 3.4 miglia per 270°. Trasporta di 3,4 mg il rilevamento di Passo Peroni e incrocialo con quello dello Sparviero. Risultato: 42°46,8′N · 010°42,2′E. Ufficiale: Lat 42°46’,5N ÷ 42°47’,1N Long 010°41’,9E ÷ 010°42’,5E.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42°50’,2N ÷ 42°50’,8N Long 010°41’,9E ÷ 010°42’,5E.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Declinazione 2021: 1°30′ + 5 × 6′ = 2°00′E. V = +2° +1° = +3°. Pv = 200°, Rilv₁ = 100°, Rilv₂ = 150°. Cammino: 9 × 10/60 = 1.5 miglia per 200°. Trasporta di 1,5 mg il rilevamento di Punta Martina e incrocialo con quello di Punta Ala. Risultato: 42°50,6′N · 010°42,1′E. Ufficiale: Lat 42°50’,2N ÷ 42°50’,8N Long 010°41’,9E ÷ 010°42’,5E.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42°41’,8N ÷ 42°42’,4N Long 010°51’,8E ÷ 010°52’,4E.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Rilevamenti già veri: nessuna conversione. Cammino: 6 × 20/60 = 2 miglia per 130°. Trasporta di 2 mg il rilevamento di Castiglione e incrocialo con quello del serbatoio. Risultato: 42°42,2′N · 010°52,1′E. Ufficiale: Lat 42°41’,8N ÷ 42°42’,4N Long 010°51’,8E ÷ 010°52’,4E.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1.7.6-10 → c) l'asse longitudinale dell'unità e la congiungente unità- oggetto osservato, contato da 000° a 180° verso dritta o sinistra dell'unità stessa.; 1.7.6-11 → a) 0° oppure 180°.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42°31’,4N ÷ 42°32’,0N Long 010°03’,8E ÷ 010°04’,4E.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−3°: Pv = 262°, Rilv₁ = 312°, Rilv₂ = 347°. Cammino: 5 × 36/60 = 3 miglia per 262°. Trasporta di 3 mg il rilevamento di Punta Brigantina e incrocialo con quello della torre. Risultato: 42°32,0′N · 010°04,0′E. Ufficiale: Lat 42°31’,4N ÷ 42°32’,0N Long 010°03’,8E ÷ 010°04’,4E.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Pb=176° ÷ 182°.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Traccia il cerchio di 2,6 mg attorno al faro e la tangente da A che lo lascia a dritta: Pv = 184°. Declinazione dicembre 2008: 0°20′ + 14 × 7′ = 1°58′E, cioè circa 2°E. Pm = Pv − d = 184° − 2° = 182°. Dalla tabella: δ = +3°. Pb = Pm − δ = 179°. Risultato: Pb 179°. Ufficiale: Pb=176° ÷ 182°.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Pb=133° ÷ 139°.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Traccia il cerchio di 3,1 mg attorno al faro e la tangente da A che lo lascia a dritta: Pv = 139°. Declinazione novembre 2009: 0°20′ + 15 × 7′ = 2°05′E, cioè circa 2°E. Pm = Pv − d = 139° − 2° = 137°. Dalla tabella: δ = +2°. Pb = Pm − δ = 135°. Risultato: Pb 135°. Ufficiale: Pb=133° ÷ 139°.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42°35’,1N ÷ 42°35’,7N Long 010°08’,4E ÷ 010°09’,0E.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è 6 mg a sud (171°) di Scoglio d'Africa. Da A a B: Pv = 028°. Rilv = Pv + ρ: 343° e 263°. Cammino: 12 × 15/60 = 3 miglia. Trasporta il primo rilevamento di 3 mg e incrocialo con il secondo. Risultato: 42°35,4′N · 010°08,7′E. Ufficiale: Lat 42°35’,1N ÷ 42°35’,7N Long 010°08’,4E ÷ 010°09’,0E.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42°31,7’N ÷ 42°32’,3N Long 010°07’,9E ÷ 010°08',5E.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Rilevamenti già veri. Cammino: 6 × 50/60 = 5 miglia per 090°. Trasporta di 5 mg il rilevamento della torre e incrocialo con quello del faro. Risultato: 42°32,0′N · 010°08,2′E. Ufficiale: Lat 42°31,7’N ÷ 42°32’,3N Long 010°07’,9E ÷ 010°08',5E.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42°33’,0N ÷ 42°33',6N Long 010°07’,3E ÷ 010°07’,9E.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+1° +4° = +5°: Pv = 070°. Rilv = Pv + ρ: 070° − 118° = 312°; 070° − 98° = 332°. Cammino: 6 × 14/60 = 1.4 miglia per 070°. Trasporta di 1,4 mg il rilevamento della torre e incrocialo con quello della Scola. Risultato: 42°33,0′N · 010°07,8′E. Ufficiale: Lat 42°33’,0N ÷ 42°33',6N Long 010°07’,3E ÷ 010°07’,9E.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42°34',4N ÷ 42°35’,0N Long 010°09',4E ÷ 010°10’,0E.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Declinazione 2021: 2°45′ + 3 × 5′ = 3°00′W. V = −3° +1° = −2°. Pv = 040°, Rilv₁ = 275°, Rilv₂ = 305°. Cammino: 12 × 5/60 = 1 miglio per 040°. Trasporta di 1 mg il rilevamento di Punta Brigantina e incrocialo con quello di Punta del Grottone. Risultato: 42°34,6′N · 010°09,7′E. Ufficiale: Lat 42°34',4N ÷ 42°35’,0N Long 010°09',4E ÷ 010°10’,0E.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1.7.4-8 → b) orario.; 1.7.4-15 → a) lo strumento di bordo utilizzato per la navigazione stimata, basato sulle proprietà del campo magnetico terrestre, in grado di orientarsi verso il Nord bussola.</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42°28’,4N ÷ 42°29’,0N Long 011°03’,4E ÷ 011°04’,0E.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Congiungi Punta del Fenaio con Talamone: Rv = Pv = 049°. V = −1° +5° = +4°: Rilv₁ = 100°, Rilv₂ = 135°. Cammino: 6 × 20/60 = 2 miglia. Trasporta il primo rilevamento di 2 mg e incrocialo con il secondo. Risultato: 42°28,7′N · 011°03,6′E. Ufficiale: Lat 42°28’,4N ÷ 42°29’,0N Long 011°03’,4E ÷ 011°04’,0E.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42°35’,7N ÷ 42°36’,3N Long 010°56’,8E ÷ 010°57’,4E.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+2°: Rilv₁ = 280°, Rilv₂ = 245°. Cammino: 6 × 20/60 = 2 miglia per 349°. Trasporta il primo rilevamento di 2 mg e incrocialo con il secondo. Risultato: 42°36,0′N · 010°56,9′E. Ufficiale: Lat 42°35’,7N ÷ 42°36’,3N Long 010°56’,8E ÷ 010°57’,4E.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42°24',3N ÷ 42°24’,9N Long 011°00’,7E ÷ 011°01’,3E.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Declinazione 2021: 1°45′ + 3 × 5′ = 2°00′W. V = −2° +1° = −1°. Pv = 336°, Rilv₁ = 035°, Rilv₂ = 080°. Cammino: 12 × 20/60 = 4 miglia per 336°. Trasporta di 4 mg il rilevamento di Capo d'Uomo e incrocialo con quello dell'Argentarola. Risultato: 42°24,7′N · 011°01,3′E. Ufficiale: Lat 42°24',3N ÷ 42°24’,9N Long 011°00’,7E ÷ 011°01’,3E.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42°26’,1N ÷ 42°26’,7N Long 010°54’,2E ÷ 010°54’,8E.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Rilevamenti già veri. Cammino: 6 × 50/60 = 5 miglia per 235°. Trasporta di 5 mg il rilevamento di Punta Lividonia e incrocialo con quello di Punta del Fenaio. Risultato: 42°26,6′N · 010°54,5′E. Ufficiale: Lat 42°26’,1N ÷ 42°26’,7N Long 010°54’,2E ÷ 010°54’,8E.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42°32’,9N ÷ 42°33’,5N Long 010°48’,5E ÷ 010°49’,1E.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−5°: Pv = 225°, Rilv₁ = 100°, Rilv₂ = 065°. Cammino: 6 × 23/60 = 2.3 miglia per 225°. Trasporta il primo rilevamento di 2,3 mg e incrocialo con il secondo. Risultato: 42°33,2′N · 010°48,9′E. Ufficiale: Lat 42°32’,9N ÷ 42°33’,5N Long 010°48’,5E ÷ 010°49’,1E.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42°33’,5N ÷ 42°34’,1N - Long 010°59’,4E ÷ 011°00’E.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2,5 mg dal faro sul rilevamento 095° (il faro è a est). In un'ora Rigel fa 9 mg per 340°: punto A′ delle 15h50m. Da B traccia la rotta di Dubhe (052°) e congiungi A′ con B. Da A′ disegna la velocità di Dubhe: 1,6 mg per 052° (1 ora). Dalla punta traccia la parallela ad A′B e tagliala da A′ con il compasso aperto di 9 mg: la rotta di intercettazione è 081°. Dove questa rotta taglia quella di Dubhe c'è D: incontro dopo 1h11m. Risultato: 42°33,7′N · 010°59,5′E. Ufficiale: Lat 42°33’,5N ÷ 42°34’,1N - Long 010°59’,4E ÷ 011°00’E.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42°28’,8N ÷ 42°29’,4N - Long 011°04’,9E ÷ 011°05’,5E.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Da B traccia la rotta di Sophia (221°) e congiungi A con B. Da A disegna la velocità di Sophia: 1,5 mg per 221° (1 ora). Dalla punta traccia la parallela ad AB e tagliala da A con il compasso aperto di 4 mg: la rotta di intercettazione è 041°. Dove questa rotta taglia quella di Sophia c'è C: incontro dopo 2h03m. Risultato: 42°29,2′N · 011°05,3′E. Ufficiale: Lat 42°28’,8N ÷ 42°29’,4N - Long 011°04’,9E ÷ 011°05’,5E.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42°35’,0N ÷ 42°35’,6N - Long 010°56’,4E ÷ 010°57’,0E.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3,1 mg dal faro di Punta Lividonia sul rilevamento 146°. Il tratto dal Giglio serve solo al racconto. Da B traccia la rotta di Ghibli (105°) e congiungi A′ con B. Da A′ disegna la velocità di Ghibli: 2,5 mg per 105° (1 ora). Dalla punta traccia la parallela ad A′B e tagliala da A′ con il compasso aperto di 7 mg: la rotta di intercettazione è 318°. Dove questa rotta taglia quella di Ghibli c'è D: incontro dopo 1h08m. Risultato: 42°35,3′N · 010°56,7′E. Ufficiale: Lat 42°35’,0N ÷ 42°35’,6N - Long 010°56’,4E ÷ 010°57’,0E.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1.7.6-15 → b) 045 gradi.; 1.7.6-16 → a) a Nord del faro, distanza 5 miglia.</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Inizio degli ultimi 45 minuti: 12 slide da 3 quiz ufficiali, ognuna seguita dalle risposte.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Ultimi 45 minuti della lezione. 12 slide da 3 quiz, ciascuna seguita dalle risposte: circa 3 minuti e mezzo per slide. I quiz sui rilevamenti si risolvono con uno schizzo alla lavagna. Se il tempo stringe, lasciare per casa le slide 11 e 12.</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1.7.6-12 → b) al tracciamento degli angoli di rotta e dei rilevamenti.; 1.7.6-22 → b) 360 gradi.; 1.7.6-32 → a) un allineamento.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1.7.6-13 → a) al calcolo delle distanze e all'individuazione delle coordinate geografiche.; 1.7.6-24 → c) l'angolo tra il piano verticale passante per il Nord e il piano verticale passante per l'oggetto rilevato, entrambi passanti per l'osservatore.; 1.7.6-33 → a) 90 gradi.</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1.7.6-18 → b) il punto cospicuo è perpendicolare all'asse longitudinale dell'unità.; 1.7.6-26 → a) a Sud-Ovest del faro.; 1.7.6-35 → a) il grafometro.</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1.7.6-19 → b) di un rilevamento e di una distanza del punto cospicuo.; 1.7.6-28 → b) Sud-Ovest.; 1.7.6-39 → a) è un insieme di punti che godono tutti di una determinata proprietà nello stesso istante e che tale proprietà deve essere misurabile.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1.7.6-21 → b) a Nord-Est del faro, distanza 6 miglia.; 1.7.6-31 → b) 315 gradi.; 1.7.6-41 → b) essere in vista della costa.</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1.7.4-3 → b) la direzione 301 gradi verso l'alto e a sinistra; la direzione 249 gradi verso il basso e a sinistra.; 1.7.4-22 → b) dalla carta nautica.; 1.7.4-29 → c) equipaggio magnetico (piccoli magneti interni).</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1.7.4-10 → c) le direzioni cardinali costituiscono le principali direzioni di riferimento rispetto alle quali si individuano tutte le altre direzioni.; 1.7.4-23 → a) tra 0 e 180 gradi Est e tra 0 e 180 gradi Ovest.; 1.7.4-30 → a) nord bussola.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1.7.4-16 → b) il perito compensatore autorizzato dall'Autorità marittima.; 1.7.4-24 → c) a redigere, a bussola compensata, la tabella delle deviazioni residue.; 1.7.4-31 → b) parallelo all'asse longitudinale dell'unità.</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1.7.4-18 → c) dell'orientamento delle linee di forza del campo magnetico terrestre.; 1.7.4-25 → c) dal tempo e dal luogo in cui si trova la nave in quel momento.; 1.7.4-32 → a) al variare della posizione geografica dell'unità.</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1.7.4-19 → a) la deviazione magnetica.; 1.7.4-28 → c) assorbire colpi di mare e vibrazioni, nonché conferire massima stabilità ai piccoli magneti interni.; 1.7.4-33 → c) da 0 a 360 gradi in senso orario misurati cominciando dalla direzione del Nord bussola (Nb).</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1.7.3-2 → b) è un ricevitore in grado di determinare la propria distanza rispetto a ciascuno dei satelliti che costituiscono la relativa rete orbitante, e quindi il punto nave, con un esiguo margine di errore.; 1.7.3-6 → b) fornire in ogni istante il punto nave.; 1.7.3-10 → a) la funzione del GPS che traccia il punto di caduta dell’uomo a mare e il rilevamento per tornarci.</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1.7.3-3 → c) Latitudine e longitudine, distanza e rotta necessarie per raggiungere un waypoint, velocità e rotta rispetto al fondo marino (Ve e Rv) e ora stimata di arrivo al punto di destinazione.; 1.7.3-7 → c) nella navigazione oltre le 12 miglia.; 1.7.3-11 → c) se non di ultimissima generazione, non tiene conto di ostacoli, pericoli e morfologia della costa, è quindi necessario impostare delle rotte spezzate; comunque, anche in caso di rotta automatica, l’esito va comunque sempre verificato.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casa: rifai sulla carta 5/D gli esercizi non svolti in aula.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jp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jp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jp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jp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jp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jp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jp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jp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jp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jp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jp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jp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jp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jp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jp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jpg"/><Relationship Id="rId3" Type="http://schemas.openxmlformats.org/officeDocument/2006/relationships/notesSlide" Target="../notesSlides/notesSlide10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