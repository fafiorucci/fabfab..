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12. Esercizi ufficiali 5.1.4-5.4.4 (carta 5/D, 20 esercizi) e 5.5.4-5.8.4 (carta 42/D, 4 esercizi) dell'Allegato A al DD 131/2022. Richiamo della lezione 4 (lo scarroccio e i nomi dei venti).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su prora e rotta, bussola, carte nautiche e pubblicazioni (1.7.7, 1.7.4, 1.7.2, 1.7.8). Come nelle lezioni 10 e 11: per ogni esercizio una slide con la traccia e una con il tracciamento. Il punto chiave di oggi: la barca si muove sulla rotta, ma i rilevamenti polari e il traverso sono riferiti alla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Gli argomenti di base che i manuali richiamano prima dei problemi d'esame: lettura e riporto delle coordinate, calcoli sessagesimali, lettura e tracciamento delle rotte, calcolo delle miglia, del tempo e della velocità, declinazione, conversione e correzione delle prore, tracciamento e correzione dei rilevamenti bussola e polari. Si richiamano in un minuto: sono spiegati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Scarroccio prora vera: 5.2.4-5, 5.5.4-1; Scarroccio prora vera · coordinate punto: 5.2.4-1, 5.3.4-1, 5.3.4-2, 5.3.4-3, 5.4.4-4; Scarroccio prora vera · coordinate al traverso: 5.2.4-2, 5.2.4-3, 5.3.4-4, 5.4.4-1, 5.4.4-2, 5.4.4-5; Scarroccio prora vera · ora del traverso: 5.1.4-1, 5.1.4-2, 5.3.4-5, 5.7.4-1, 5.8.4-1; Scarroccio rotta vera · coordinate al traverso: 5.1.4-3, 5.1.4-4; Scarroccio rotta vera · ora del traverso: 5.1.4-5; Scarroccio rotta vera · velocità · coordinate punto: 5.2.4-4, 5.6.4-1; Scarroccio velocità: 5.4.4-3. «Prora vera» nel nome della famiglia: la traccia dà la rotta e va calcolata la prora (Pv = Rv − Sc), da cui si misurano traverso e rilevamenti polari. «Rotta vera»: la traccia dà la prora e va calcolata la rotta da tracciare (Rv = Pv + Sc).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Richiamo della lezione 4 (vento «da», corrente «verso») e del quiz 1.7.7-22. Negli esercizi di oggi compaiono tutti gli otto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1.7.7-12, -18, -19, -21, -23, -26 (scarroccio). Esempi dalla traccia: 5.1.4-3 (Pv 085°, Tramontana, Sc +8°, Rv 093°); 5.1.4-5 (Pv 190°, Maestrale da dritta, Sc −10°, Rv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5.1.4-1, -2, -3, -4, -5, 5.2.4-2, -3, 5.3.4-4, -5, 5.4.4-5, 5.7.4-1, 5.8.4-1 (traverso); 5.2.4-1, 5.3.4-2, -3, 5.4.4-1, -2, -4 (rilevamenti polari con scarroccio).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segno di Sc si decide sempre rispetto alla direzione in cui la barca avanza. 5.2.4-5: Rv 309° verso il punto 1 mg a sud dello Sparviero, Ponente da sinistra, Sc +5°: Pv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 → a) il percorso dell'imbarcazione da diporto in ciascun punto forma con la direzione Nord del meridiano geografico.; 1.7.7-4 → b) la direzione verso la quale la linea di chiglia della nave è orientata rispetto al nord.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Capo Sant'Andrea a Capo della Vita: 072°, 12,6 mg in 2h30m: Ve = 5,0 kn. Maestrale da 315°: arriva da sinistra e spinge a dritta, quindi Sc = +10°. Pv = Rv − Sc = 062°. Il traverso si misura dalla prora: Scoglietto per Rilv = Pv + 90° = 152°. Dove questa linea taglia la rotta c'è il punto. 8,1 mg a 5,0 kn = 1h36m: traverso alle 11h36m. Risultato: traverso alle 11h36m.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090°, Grecale da 045°: spinge a dritta, Sc = +10°: Pv = Rv − Sc = 080°. Cerboli a dritta: al traverso lo si rileva per Pv + 90° = 170°. Il punto al traverso è 18,9 mg da A; a 6 kn servono 3h09m. Traverso alle 10h29m. Risultato: traverso alle 10h29m.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085°, Tramontana da nord: arriva da sinistra, Sc = +8°: Rv = Pv + Sc = 093°. Punta dei Ripalti a sinistra: al traverso la si rileva per Pv − 90° = 355°. Dove la linea del rilevamento taglia la rotta c'è B. Risultato: 42°41,0′N · 010°25,5′E.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290°, Libeccio da 225°: arriva da sinistra, Sc = +5°: Rv = 295°. Punta le Tombe a dritta: al traverso per Pv + 90° = 020°. L'incrocio con la rotta è B. Risultato: 42°42,9′N · 010°07,7′E.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190°, Maestrale da 315°: arriva da dritta, Sc = −10°: Rv = 180°. Punta dei Ripalti a dritta: al traverso per 280°. Distanza da Cerboli al traverso: 10,2 mg a 6 kn = 1h42m. Traverso alle 11h42m. Risultato: traverso alle 11h42m.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025°, Maestrale da 315°: Sc = +5°, quindi Pv = Rv − Sc = 020°. I rilevamenti polari si contano dalla prora, non dalla rotta: Punta Francese Rilv = 020° + 35° = 055°; Punta Ala Rilv = 020° + 77° = 097°. I due rilevamenti contemporanei si incrociano nel punto nave. Risultato: 42°48,7′N · 010°39,5′E.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140°, Libeccio da 225°: arriva da dritta, Sc = −10°: Pv = Rv − Sc = 150°. Serbatoio a sinistra: al traverso per Pv − 90° = 060°. L'incrocio con la rotta 140° è A. Risultato: 42°39,9′N · 010°51,8′E.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320°, Grecale da 045°: arriva da dritta, Sc = −10°: Pv = Rv − Sc = 330°. Fanali a dritta: al traverso per Pv + 90° = 060°. L'incrocio con la rotta è B. Risultato: 42°43,0′N · 010°46,5′E.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fanale è per Rilv 320° a 1 mg, quindi A è 1 mg per 140° dal fanale. Pv 253°, Libeccio da 225°: arriva da sinistra, Sc = +7°: Rv = 260°. Ve = Vp − 1 = 4 kn; in 2 ore 8 mg per la Rv. Risultato: 42°43,5′N · 010°42,8′E.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1 mg a sud dello Sparviero. Rv da A a B: 309°. Ponente da 270°: arriva da sinistra, Sc = +5°. Pv = Rv − Sc = 304°: la prora va tenuta più al vento della rotta. Risultato: Pv 304°.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1.7.4-5 → c) quarto quadrante.; 1.7.4-34 → b) Est-Ovest (rispettivamente positiva e negativa).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42°23’,6N ÷ 42°24’,0N Long 010°17’,8E ÷ 010°18’,2E.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150°, Ponente da 270°: arriva da dritta, Sc = −8°: Pv = 158°. Il faro è per ρ +138° dalla prora: Rilv = 158° + 138° = 296°; A è 3,6 mg dal faro sul rilevamento opposto. Da A traccia la Rv 150° fino al limite della zona 2 di Montecristo segnato sulla carta: lì c'è B. Risultato: 42°24,0′N · 010°17,7′E. Ufficiale: Lat 42°23’,6N ÷ 42°24’,0N Long 010°17’,8E ÷ 010°18’,2E.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072°, Tramontana da nord: arriva da sinistra, Sc = +2°: Pv = 070°. Torre di Cala della Ruta: 070° − 119° = 311°; La Scola: 070° − 77° = 353°. I due rilevamenti si incrociano nel punto nave. Risultato: 42°32,1′N · 010°06,9′E.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Rilv 090° a 2,8 mg, quindi A è 2,8 mg a ovest del faro. Rv 025°, Levante da 090°: arriva da dritta, Sc = −8°: Pv = 033°. Faro di Pianosa per ρ −137°: Rilv = 033° − 137° = 256°. Dove questo rilevamento taglia la rotta c'è B. Risultato: 42°35,7′N · 010°09,1′E.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a nord-ovest di Scoglio d'Africa. Rv 352°, Maestrale da 315°: arriva da sinistra, Sc = +8°: Pv = 344°. Pianosa a dritta: al traverso per Pv + 90° = 074°. L'incrocio con la rotta è B. Risultato: 42°34,0′N · 010°00,2′E.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 mg a sud-ovest di Scoglio d'Africa. Scirocco, Sc = −6°: Pv = Rv − Sc = 020° + 6° = 026°. Punta Brigantina a sinistra: al traverso per 296°. 13,8 mg a 18 kn = 46 minuti: B alle 09h16m. Risultato: B alle 09h16m.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313°, Tramontana da nord: arriva da dritta, Sc = −8°: Pv = 321°. Il faro è per ρ −90° dalla prora: Rilv = 321° − 90° = 231°. A: 1,8 mg dal faro sul rilevamento opposto (051°). Risultato: 42°24,4′N · 010°54,8′E.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Tramontana da nord: arriva da sinistra, Sc = +5°: Pv = 040°. Traverso sinistro: Rilv = Pv − 90° = 310°. Punto nave: 2 mg dal faro sul rilevamento opposto (130°). Risultato: 42°33,4′N · 010°55,0′E.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ai fanali del Giglio: 13,5 mg per 272°. Dalle 15h30m alle 17h45m: 2h15m = 2,25 ore. Ve = 13,5 / 2,25 = 6,0 kn. Il vento toglie 1 nodo: Vp = Ve + 1 = 7,0 kn. Lo scarroccio di 7° cambia la prora da tenere, non la velocità. Risultato: Vp 7,0 kn.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42°26',9N ÷ 42°27’,5N Long 010°59',9E ÷ 011°00’,5E.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dal faro di Punta del Fenaio verso WSW (247,5°). Maestrale, Sc = +8°: Pv = Rv − Sc = 052°. Punta Lividonia per ρ +45° dalla prora: Rilv = 052° + 45° = 097°. Dove questo rilevamento taglia la rotta 060° c'è B. Risultato: 42°27,2′N · 011°01,5′E. Ufficiale: Lat 42°26',9N ÷ 42°27’,5N Long 010°59',9E ÷ 011°00’,5E.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Formica Grande si vede per NW a 1,5 mg, quindi A è 1,5 mg a sud-est del faro. Rv 095°, Grecale da 045°: arriva da sinistra, Sc = +5°: Pv = 090°. Talamone a sinistra: al traverso per Pv − 90° = 000°. L'incrocio con la rotta è B. Risultato: 42°32,7′N · 011°08,0′E.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1.7.7-5 → c) 180 gradi.; 1.7.7-6 → a) sì, solo la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42/D copre le Bocche di Bonifacio, la Gallura e il golfo dell'Asinara, con la Corsica meridionale. Coste da OpenStreetMap (© contributori OSM, ODbL). Negli esercizi di scarroccio della 42/D: Bonifacio, Isolette Monaci, Punta li Canneddi, Tavolara e Mortoriotto. Le altre famiglie della 42/D nella lezione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A al porto di Bonifacio: 345°. Ponente da 270°: arriva da sinistra, Sc = +10°. Pv = Rv − Sc = 335°. Risultato: Pv 335°.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è per Rilv 190° a 1 mg, quindi A è 1 mg per 010° dal faro. Pv 050°, Ostro da sud: arriva da dritta, Sc = −8°: Rv = 042°. Ve = Vp + 1 = 8 kn. Dalle 10h50m alle 12h30m: 1h40m, cioè 13,3 mg. Risultato: 41°23,9′N · 009°43,1′E.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Maestrale da 315°: arriva da sinistra, Sc = +6°: Pv = 039°. Punta li Canneddi a dritta per ρ 90°: Rilv = Pv + 90° = 129°. Punto sulla rotta a 8,8 mg da A; a 5,5 kn servono 1h36m. Traverso alle 12h51m. Risultato: traverso alle 12h51m.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Punta Timone è per Rilv 127° a 1,8 mg: A è 1,8 mg per 307° dal faro. Rv 345°, Grecale da 045°: arriva da dritta, Sc = −10°: Pv = 355°. Mortoriotto per ρ −90°: Rilv = Pv − 90° = 265°. 8,9 mg a 6,5 kn = 1h22m: traverso alle 11h47m. Risultato: traverso alle 11h47m.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 → c) ai mari ed alle coste nazionali italiane nonché a quelle del Mar Mediterraneo.; 1.7.2-3 → c) su un lato a margine della stessa carta nautica.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1.7.7-9 → a) sulla rosa dei venti delle carte nautiche.; 1.7.7-14 → b) deviato il percorso dell'unità a causa dell'azione della corrente.; 1.7.7-17 → a) reale rispetto al fondo marino.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1.7.7-11 → b) dalla sola azione dei propulsori-eliche.; 1.7.7-15 → a) unicamente dal suo propulsore-elica.; 1.7.7-19 → b) tanto è maggiore quanto è minore l'opera viva e quanto è maggiore la superficie esposta al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1.7.7-13 → a) Rv (angolo di rotta vera) e Ve (velocità effettiva).; 1.7.7-16 → c) è indifferente e non dipende dal tipo di scafo o esposizione dell'opera morta.; 1.7.7-20 → b) perché a quello reale si somma, vettorialmente, il vento dovuto al moto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1.7.4-41 → a) indica la direzione prodiera dell'asse longitudinale dell'unità.; 1.7.4-46 → c) nord bussola: che è quello dato da quella specifica bussola.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1.7.4-36 → b) mantiene la prora prestabilita.; 1.7.4-42 → b) della prora che si intende impostare.; 1.7.4-47 → a) la bussola predetta è a bordo di un'unità in legno o vetroresina, in assenza di masse ferrose ed apparecchiature elettriche nelle vicinanze della stessa.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1.7.4-37 → a) metodo dell'allineamento; metodo dell'osservazione della stella polare.; 1.7.4-43 → a) sulla tabella delle deviazioni residue dopo aver fatto eseguire la compensazione dal perito compensatore.; 1.7.4-48 → b)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1.7.4-39 → a) terrestre.;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1.7.2-7 → b) carte utilizzate dal navigante principalmente durante la fase prossima all'atterraggio e che rappresentano in modo particolarmente dettagliato elementi afferenti le batimetriche ed il segnalamento marittimo.; 1.7.2-12 → b) conoscere l'entrata dei porti ed altre informazioni quali la dislocazione delle banchine, i punti di ormeggio, i fondali presenti, ecc.; 1.7.2-16 → b) la carta mantiene gli angoli della realtà.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1.7.2-9 → b) con rette perpendicolari all'equatore ed equidistanti fra loro.; 1.7.2-13 → a) carta a grande scala riproducente aree di limitate estensioni come porti, rade, isolotti.; 1.7.2-17 → b) della 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1.7.2-10 → a) la carta a piccola scala.; 1.7.2-15 → c) simboli indicanti la natura del fondo marino.; 1.7.2-18 → c) la pianificazione di rotte su grandi distanze.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1.7.8-1 → a) nel catalogo delle carte e delle pubblicazioni nautiche (I.I. 3001).; 1.7.8-3 → c) è una nuova tiratura dell'edizione in vigore di una carta sulla quale non è stata incorporata alcuna modifica importante fatta eccezione di quelle derivanti da eventuali Avvisi ai Naviganti (AA.NN.) emessi nel tempo.; 1.7.8-7 → c) fornisce notizie necessarie alla navigazione costiera come descrizione della costa, pericoli, aspetto dei fari, fanali, servizi portuali, boe.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1.7.8-2 → b) un adeguamento delle pubblicazioni alle modifiche che intervengono.; 1.7.8-5 → c) il porto è poco protetto in caso di Levante, Scirocco e Ostro.; 1.7.8-8 → b) l'insieme delle carte e delle pubblicazioni nautiche necessarie per la condotta della navigazione.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Relationship Id="rId3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